
<file path=[Content_Types].xml><?xml version="1.0" encoding="utf-8"?>
<Types xmlns="http://schemas.openxmlformats.org/package/2006/content-types">
  <Override PartName="/customXml/itemProps3.xml" ContentType="application/vnd.openxmlformats-officedocument.customXmlProperties+xml"/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Layouts/slideLayout19.xml" ContentType="application/vnd.openxmlformats-officedocument.presentationml.slideLayout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docProps/custom.xml" ContentType="application/vnd.openxmlformats-officedocument.custom-properties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customXml/itemProps2.xml" ContentType="application/vnd.openxmlformats-officedocument.customXmlProperties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7" r:id="rId4"/>
  </p:sldMasterIdLst>
  <p:notesMasterIdLst>
    <p:notesMasterId r:id="rId13"/>
  </p:notesMasterIdLst>
  <p:handoutMasterIdLst>
    <p:handoutMasterId r:id="rId14"/>
  </p:handoutMasterIdLst>
  <p:sldIdLst>
    <p:sldId id="338" r:id="rId5"/>
    <p:sldId id="315" r:id="rId6"/>
    <p:sldId id="302" r:id="rId7"/>
    <p:sldId id="329" r:id="rId8"/>
    <p:sldId id="339" r:id="rId9"/>
    <p:sldId id="341" r:id="rId10"/>
    <p:sldId id="340" r:id="rId11"/>
    <p:sldId id="304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1968" userDrawn="1">
          <p15:clr>
            <a:srgbClr val="A4A3A4"/>
          </p15:clr>
        </p15:guide>
        <p15:guide id="2" pos="408" userDrawn="1">
          <p15:clr>
            <a:srgbClr val="A4A3A4"/>
          </p15:clr>
        </p15:guide>
        <p15:guide id="3" orient="horz" pos="3912" userDrawn="1">
          <p15:clr>
            <a:srgbClr val="A4A3A4"/>
          </p15:clr>
        </p15:guide>
        <p15:guide id="4" pos="7272" userDrawn="1">
          <p15:clr>
            <a:srgbClr val="A4A3A4"/>
          </p15:clr>
        </p15:guide>
        <p15:guide id="5" orient="horz" pos="16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clrMru>
    <a:srgbClr val="D9D9D9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32767"/>
    </p:ext>
    <p:ext uri="{FD5EFAAD-0ECE-453E-9831-46B23BE46B34}">
      <p15:chartTrackingRefBased xmlns:p15="http://schemas.microsoft.com/office/powerpoint/2012/main" xmlns="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D67BBC5-90FB-0B4C-ED85-F72C7BA7CE4A}" v="1" dt="2022-06-06T12:10:26.221"/>
  </p1510:revLst>
</p1510:revInfo>
</file>

<file path=ppt/tableStyles.xml><?xml version="1.0" encoding="utf-8"?>
<a:tblStyleLst xmlns:a="http://schemas.openxmlformats.org/drawingml/2006/main" def="{6E25E649-3F16-4E02-A733-19D2CDBF48F0}"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85" autoAdjust="0"/>
    <p:restoredTop sz="95033" autoAdjust="0"/>
  </p:normalViewPr>
  <p:slideViewPr>
    <p:cSldViewPr snapToGrid="0">
      <p:cViewPr>
        <p:scale>
          <a:sx n="33" d="100"/>
          <a:sy n="33" d="100"/>
        </p:scale>
        <p:origin x="-244" y="-784"/>
      </p:cViewPr>
      <p:guideLst>
        <p:guide orient="horz" pos="1968"/>
        <p:guide orient="horz" pos="3912"/>
        <p:guide orient="horz" pos="1656"/>
        <p:guide pos="408"/>
        <p:guide pos="7272"/>
      </p:guideLst>
    </p:cSldViewPr>
  </p:slideViewPr>
  <p:outlineViewPr>
    <p:cViewPr>
      <p:scale>
        <a:sx n="33" d="100"/>
        <a:sy n="33" d="100"/>
      </p:scale>
      <p:origin x="0" y="-488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10" d="100"/>
        <a:sy n="110" d="100"/>
      </p:scale>
      <p:origin x="0" y="-965"/>
    </p:cViewPr>
  </p:sorter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Relationship Id="rId22" Type="http://schemas.microsoft.com/office/2015/10/relationships/revisionInfo" Target="revisionInfo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xmlns="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077DB-935E-4A0A-947A-D283B9F9F452}" type="datetimeFigureOut">
              <a:rPr lang="en-US" smtClean="0"/>
              <a:pPr/>
              <a:t>8/26/2026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2C0B10-7CAE-41E4-AB02-7E8B1FF2B89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9EC30E-1A71-4188-9BE7-E2A64929A436}" type="datetimeFigureOut">
              <a:rPr lang="en-US" noProof="0" smtClean="0"/>
              <a:pPr/>
              <a:t>8/26/2026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30193B-564F-4854-8A52-728F3FB19C85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xmlns="" val="3603816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0193B-564F-4854-8A52-728F3FB19C85}" type="slidenum">
              <a:rPr lang="en-US" noProof="0" smtClean="0"/>
              <a:pPr/>
              <a:t>3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xmlns="" val="25079122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870022032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660528460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637669602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pPr/>
              <a:t>8/26/2026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397459935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8/26/2026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063239096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8/26/2026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891965439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8/26/2026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4086897335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pPr/>
              <a:t>8/26/2026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589620618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8/26/2026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530304514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638109717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xmlns="" val="3322563127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928478255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xmlns="" val="2926250616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533561930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pPr/>
              <a:t>8/26/2026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877920135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8/26/2026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35619384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xmlns="" id="{6FDA3C6F-5F6A-4D64-8BFE-AFFF58B1A0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12871" y="4141999"/>
            <a:ext cx="4220845" cy="8614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solidFill>
                  <a:schemeClr val="accent4"/>
                </a:solidFill>
                <a:latin typeface="+mj-lt"/>
              </a:defRPr>
            </a:lvl1pPr>
            <a:lvl2pPr>
              <a:buNone/>
              <a:defRPr sz="20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Hexagon 14">
            <a:extLst>
              <a:ext uri="{FF2B5EF4-FFF2-40B4-BE49-F238E27FC236}">
                <a16:creationId xmlns:a16="http://schemas.microsoft.com/office/drawing/2014/main" xmlns="" id="{AC159667-7690-4645-986D-BE501438455F}"/>
              </a:ext>
            </a:extLst>
          </p:cNvPr>
          <p:cNvSpPr/>
          <p:nvPr userDrawn="1"/>
        </p:nvSpPr>
        <p:spPr>
          <a:xfrm>
            <a:off x="740309" y="1382809"/>
            <a:ext cx="1229566" cy="1059971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xmlns="" id="{54667EE4-E77F-453B-BF8B-B1EE2AE80715}"/>
              </a:ext>
            </a:extLst>
          </p:cNvPr>
          <p:cNvSpPr/>
          <p:nvPr userDrawn="1"/>
        </p:nvSpPr>
        <p:spPr>
          <a:xfrm>
            <a:off x="3755031" y="1194620"/>
            <a:ext cx="1666162" cy="1436347"/>
          </a:xfrm>
          <a:prstGeom prst="hexag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Hexagon 16">
            <a:extLst>
              <a:ext uri="{FF2B5EF4-FFF2-40B4-BE49-F238E27FC236}">
                <a16:creationId xmlns:a16="http://schemas.microsoft.com/office/drawing/2014/main" xmlns="" id="{FC050232-A229-425F-BFC8-D50374F2D171}"/>
              </a:ext>
            </a:extLst>
          </p:cNvPr>
          <p:cNvSpPr/>
          <p:nvPr userDrawn="1"/>
        </p:nvSpPr>
        <p:spPr>
          <a:xfrm>
            <a:off x="3804994" y="5233183"/>
            <a:ext cx="718261" cy="61919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xmlns="" id="{53E4EBC7-340A-43A5-9E23-4B73A6F700B6}"/>
              </a:ext>
            </a:extLst>
          </p:cNvPr>
          <p:cNvSpPr/>
          <p:nvPr userDrawn="1"/>
        </p:nvSpPr>
        <p:spPr>
          <a:xfrm>
            <a:off x="1837838" y="1101306"/>
            <a:ext cx="651613" cy="561736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xmlns="" id="{1ED0E31A-F0A3-481D-8D9C-E3C4531FD21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71515" y="1914044"/>
            <a:ext cx="3993624" cy="3617848"/>
          </a:xfrm>
          <a:custGeom>
            <a:avLst/>
            <a:gdLst>
              <a:gd name="connsiteX0" fmla="*/ 1223161 w 3993624"/>
              <a:gd name="connsiteY0" fmla="*/ 2354088 h 3617848"/>
              <a:gd name="connsiteX1" fmla="*/ 2057242 w 3993624"/>
              <a:gd name="connsiteY1" fmla="*/ 2354088 h 3617848"/>
              <a:gd name="connsiteX2" fmla="*/ 2373182 w 3993624"/>
              <a:gd name="connsiteY2" fmla="*/ 2985968 h 3617848"/>
              <a:gd name="connsiteX3" fmla="*/ 2057242 w 3993624"/>
              <a:gd name="connsiteY3" fmla="*/ 3617848 h 3617848"/>
              <a:gd name="connsiteX4" fmla="*/ 1223161 w 3993624"/>
              <a:gd name="connsiteY4" fmla="*/ 3617848 h 3617848"/>
              <a:gd name="connsiteX5" fmla="*/ 907221 w 3993624"/>
              <a:gd name="connsiteY5" fmla="*/ 2985968 h 3617848"/>
              <a:gd name="connsiteX6" fmla="*/ 2569631 w 3993624"/>
              <a:gd name="connsiteY6" fmla="*/ 1425984 h 3617848"/>
              <a:gd name="connsiteX7" fmla="*/ 3602417 w 3993624"/>
              <a:gd name="connsiteY7" fmla="*/ 1425984 h 3617848"/>
              <a:gd name="connsiteX8" fmla="*/ 3993624 w 3993624"/>
              <a:gd name="connsiteY8" fmla="*/ 2208398 h 3617848"/>
              <a:gd name="connsiteX9" fmla="*/ 3602417 w 3993624"/>
              <a:gd name="connsiteY9" fmla="*/ 2990812 h 3617848"/>
              <a:gd name="connsiteX10" fmla="*/ 2569631 w 3993624"/>
              <a:gd name="connsiteY10" fmla="*/ 2990812 h 3617848"/>
              <a:gd name="connsiteX11" fmla="*/ 2178424 w 3993624"/>
              <a:gd name="connsiteY11" fmla="*/ 2208398 h 3617848"/>
              <a:gd name="connsiteX12" fmla="*/ 551406 w 3993624"/>
              <a:gd name="connsiteY12" fmla="*/ 0 h 3617848"/>
              <a:gd name="connsiteX13" fmla="*/ 2007117 w 3993624"/>
              <a:gd name="connsiteY13" fmla="*/ 0 h 3617848"/>
              <a:gd name="connsiteX14" fmla="*/ 2558523 w 3993624"/>
              <a:gd name="connsiteY14" fmla="*/ 1102811 h 3617848"/>
              <a:gd name="connsiteX15" fmla="*/ 2007117 w 3993624"/>
              <a:gd name="connsiteY15" fmla="*/ 2205622 h 3617848"/>
              <a:gd name="connsiteX16" fmla="*/ 551406 w 3993624"/>
              <a:gd name="connsiteY16" fmla="*/ 2205622 h 3617848"/>
              <a:gd name="connsiteX17" fmla="*/ 0 w 3993624"/>
              <a:gd name="connsiteY17" fmla="*/ 1102811 h 3617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993624" h="3617848">
                <a:moveTo>
                  <a:pt x="1223161" y="2354088"/>
                </a:moveTo>
                <a:lnTo>
                  <a:pt x="2057242" y="2354088"/>
                </a:lnTo>
                <a:lnTo>
                  <a:pt x="2373182" y="2985968"/>
                </a:lnTo>
                <a:lnTo>
                  <a:pt x="2057242" y="3617848"/>
                </a:lnTo>
                <a:lnTo>
                  <a:pt x="1223161" y="3617848"/>
                </a:lnTo>
                <a:lnTo>
                  <a:pt x="907221" y="2985968"/>
                </a:lnTo>
                <a:close/>
                <a:moveTo>
                  <a:pt x="2569631" y="1425984"/>
                </a:moveTo>
                <a:lnTo>
                  <a:pt x="3602417" y="1425984"/>
                </a:lnTo>
                <a:lnTo>
                  <a:pt x="3993624" y="2208398"/>
                </a:lnTo>
                <a:lnTo>
                  <a:pt x="3602417" y="2990812"/>
                </a:lnTo>
                <a:lnTo>
                  <a:pt x="2569631" y="2990812"/>
                </a:lnTo>
                <a:lnTo>
                  <a:pt x="2178424" y="2208398"/>
                </a:lnTo>
                <a:close/>
                <a:moveTo>
                  <a:pt x="551406" y="0"/>
                </a:moveTo>
                <a:lnTo>
                  <a:pt x="2007117" y="0"/>
                </a:lnTo>
                <a:lnTo>
                  <a:pt x="2558523" y="1102811"/>
                </a:lnTo>
                <a:lnTo>
                  <a:pt x="2007117" y="2205622"/>
                </a:lnTo>
                <a:lnTo>
                  <a:pt x="551406" y="2205622"/>
                </a:lnTo>
                <a:lnTo>
                  <a:pt x="0" y="1102811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03E68100-C56F-4515-A4FD-3F301797E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2871" y="2050552"/>
            <a:ext cx="4998720" cy="1748983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xmlns="" val="1409194673"/>
      </p:ext>
    </p:extLst>
  </p:cSld>
  <p:clrMapOvr>
    <a:masterClrMapping/>
  </p:clrMapOvr>
  <p:extLst>
    <p:ext uri="{DCECCB84-F9BA-43D5-87BE-67443E8EF086}">
      <p15:sldGuideLst xmlns:p15="http://schemas.microsoft.com/office/powerpoint/2012/main" xmlns="">
        <p15:guide id="1" orient="horz" pos="1272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xmlns="" id="{24FAA9D0-7C9C-4043-9931-A15819ABB9B5}"/>
              </a:ext>
            </a:extLst>
          </p:cNvPr>
          <p:cNvSpPr/>
          <p:nvPr userDrawn="1"/>
        </p:nvSpPr>
        <p:spPr>
          <a:xfrm>
            <a:off x="7362825" y="443263"/>
            <a:ext cx="361950" cy="3619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xmlns="" id="{E232AB2D-843E-4B5F-8793-6A263DA356BB}"/>
              </a:ext>
            </a:extLst>
          </p:cNvPr>
          <p:cNvSpPr/>
          <p:nvPr userDrawn="1"/>
        </p:nvSpPr>
        <p:spPr>
          <a:xfrm>
            <a:off x="11007246" y="5605994"/>
            <a:ext cx="654227" cy="6542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xmlns="" id="{FA75A12B-C399-4072-BD69-D872D2C2AD1F}"/>
              </a:ext>
            </a:extLst>
          </p:cNvPr>
          <p:cNvSpPr/>
          <p:nvPr userDrawn="1"/>
        </p:nvSpPr>
        <p:spPr>
          <a:xfrm>
            <a:off x="10683791" y="6132439"/>
            <a:ext cx="251152" cy="251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xmlns="" id="{423AE48B-50E9-4BEA-B66A-B2D2B9CCFE9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33416" y="624239"/>
            <a:ext cx="5855754" cy="5631571"/>
          </a:xfrm>
          <a:custGeom>
            <a:avLst/>
            <a:gdLst>
              <a:gd name="connsiteX0" fmla="*/ 3433020 w 5855754"/>
              <a:gd name="connsiteY0" fmla="*/ 786103 h 5631571"/>
              <a:gd name="connsiteX1" fmla="*/ 5855754 w 5855754"/>
              <a:gd name="connsiteY1" fmla="*/ 3208837 h 5631571"/>
              <a:gd name="connsiteX2" fmla="*/ 3433020 w 5855754"/>
              <a:gd name="connsiteY2" fmla="*/ 5631571 h 5631571"/>
              <a:gd name="connsiteX3" fmla="*/ 1010286 w 5855754"/>
              <a:gd name="connsiteY3" fmla="*/ 3208837 h 5631571"/>
              <a:gd name="connsiteX4" fmla="*/ 3433020 w 5855754"/>
              <a:gd name="connsiteY4" fmla="*/ 786103 h 5631571"/>
              <a:gd name="connsiteX5" fmla="*/ 828675 w 5855754"/>
              <a:gd name="connsiteY5" fmla="*/ 0 h 5631571"/>
              <a:gd name="connsiteX6" fmla="*/ 1657350 w 5855754"/>
              <a:gd name="connsiteY6" fmla="*/ 828675 h 5631571"/>
              <a:gd name="connsiteX7" fmla="*/ 828675 w 5855754"/>
              <a:gd name="connsiteY7" fmla="*/ 1657350 h 5631571"/>
              <a:gd name="connsiteX8" fmla="*/ 0 w 5855754"/>
              <a:gd name="connsiteY8" fmla="*/ 828675 h 5631571"/>
              <a:gd name="connsiteX9" fmla="*/ 828675 w 5855754"/>
              <a:gd name="connsiteY9" fmla="*/ 0 h 5631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55754" h="5631571">
                <a:moveTo>
                  <a:pt x="3433020" y="786103"/>
                </a:moveTo>
                <a:cubicBezTo>
                  <a:pt x="4771059" y="786103"/>
                  <a:pt x="5855754" y="1870798"/>
                  <a:pt x="5855754" y="3208837"/>
                </a:cubicBezTo>
                <a:cubicBezTo>
                  <a:pt x="5855754" y="4546876"/>
                  <a:pt x="4771059" y="5631571"/>
                  <a:pt x="3433020" y="5631571"/>
                </a:cubicBezTo>
                <a:cubicBezTo>
                  <a:pt x="2094981" y="5631571"/>
                  <a:pt x="1010286" y="4546876"/>
                  <a:pt x="1010286" y="3208837"/>
                </a:cubicBezTo>
                <a:cubicBezTo>
                  <a:pt x="1010286" y="1870798"/>
                  <a:pt x="2094981" y="786103"/>
                  <a:pt x="3433020" y="786103"/>
                </a:cubicBezTo>
                <a:close/>
                <a:moveTo>
                  <a:pt x="828675" y="0"/>
                </a:moveTo>
                <a:cubicBezTo>
                  <a:pt x="1286340" y="0"/>
                  <a:pt x="1657350" y="371010"/>
                  <a:pt x="1657350" y="828675"/>
                </a:cubicBezTo>
                <a:cubicBezTo>
                  <a:pt x="1657350" y="1286340"/>
                  <a:pt x="1286340" y="1657350"/>
                  <a:pt x="828675" y="1657350"/>
                </a:cubicBezTo>
                <a:cubicBezTo>
                  <a:pt x="371010" y="1657350"/>
                  <a:pt x="0" y="1286340"/>
                  <a:pt x="0" y="828675"/>
                </a:cubicBezTo>
                <a:cubicBezTo>
                  <a:pt x="0" y="371010"/>
                  <a:pt x="371010" y="0"/>
                  <a:pt x="828675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xmlns="" id="{282D3E62-6D1A-4E9D-BE54-2EED9BF429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xmlns="" id="{DEB8F0E5-B89F-48AD-87BD-534EA9463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75139580"/>
      </p:ext>
    </p:extLst>
  </p:cSld>
  <p:clrMapOvr>
    <a:masterClrMapping/>
  </p:clrMapOvr>
  <p:extLst>
    <p:ext uri="{DCECCB84-F9BA-43D5-87BE-67443E8EF086}">
      <p15:sldGuideLst xmlns:p15="http://schemas.microsoft.com/office/powerpoint/2012/main" xmlns="">
        <p15:guide id="1" orient="horz" pos="216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6">
            <a:extLst>
              <a:ext uri="{FF2B5EF4-FFF2-40B4-BE49-F238E27FC236}">
                <a16:creationId xmlns:a16="http://schemas.microsoft.com/office/drawing/2014/main" xmlns="" id="{4AA38E8C-A334-4183-8ABC-112B8517F4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xmlns="" id="{B80624A4-5116-4AAF-8C31-C25D1DB16FEC}"/>
              </a:ext>
            </a:extLst>
          </p:cNvPr>
          <p:cNvSpPr/>
          <p:nvPr userDrawn="1"/>
        </p:nvSpPr>
        <p:spPr>
          <a:xfrm>
            <a:off x="9354457" y="5363987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xmlns="" id="{1D07EC8A-6024-4DEA-9C4D-AE4228E17854}"/>
              </a:ext>
            </a:extLst>
          </p:cNvPr>
          <p:cNvSpPr/>
          <p:nvPr userDrawn="1"/>
        </p:nvSpPr>
        <p:spPr>
          <a:xfrm>
            <a:off x="6692791" y="1699889"/>
            <a:ext cx="319749" cy="319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xmlns="" id="{D1C8FAEF-DF78-48CC-AEEF-F9B802055C05}"/>
              </a:ext>
            </a:extLst>
          </p:cNvPr>
          <p:cNvSpPr/>
          <p:nvPr userDrawn="1"/>
        </p:nvSpPr>
        <p:spPr>
          <a:xfrm>
            <a:off x="9354457" y="5897738"/>
            <a:ext cx="179977" cy="1799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xmlns="" id="{566F72D6-AEEE-4CF3-8136-F6782F1E489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90227" y="786181"/>
            <a:ext cx="4441372" cy="5393036"/>
          </a:xfrm>
          <a:custGeom>
            <a:avLst/>
            <a:gdLst>
              <a:gd name="connsiteX0" fmla="*/ 0 w 4441372"/>
              <a:gd name="connsiteY0" fmla="*/ 3188969 h 5393036"/>
              <a:gd name="connsiteX1" fmla="*/ 2173516 w 4441372"/>
              <a:gd name="connsiteY1" fmla="*/ 3188969 h 5393036"/>
              <a:gd name="connsiteX2" fmla="*/ 2173516 w 4441372"/>
              <a:gd name="connsiteY2" fmla="*/ 5393036 h 5393036"/>
              <a:gd name="connsiteX3" fmla="*/ 0 w 4441372"/>
              <a:gd name="connsiteY3" fmla="*/ 5393036 h 5393036"/>
              <a:gd name="connsiteX4" fmla="*/ 2267856 w 4441372"/>
              <a:gd name="connsiteY4" fmla="*/ 2293018 h 5393036"/>
              <a:gd name="connsiteX5" fmla="*/ 4441372 w 4441372"/>
              <a:gd name="connsiteY5" fmla="*/ 2293018 h 5393036"/>
              <a:gd name="connsiteX6" fmla="*/ 4441372 w 4441372"/>
              <a:gd name="connsiteY6" fmla="*/ 4497085 h 5393036"/>
              <a:gd name="connsiteX7" fmla="*/ 2267856 w 4441372"/>
              <a:gd name="connsiteY7" fmla="*/ 4497085 h 5393036"/>
              <a:gd name="connsiteX8" fmla="*/ 0 w 4441372"/>
              <a:gd name="connsiteY8" fmla="*/ 906837 h 5393036"/>
              <a:gd name="connsiteX9" fmla="*/ 2173516 w 4441372"/>
              <a:gd name="connsiteY9" fmla="*/ 906837 h 5393036"/>
              <a:gd name="connsiteX10" fmla="*/ 2173516 w 4441372"/>
              <a:gd name="connsiteY10" fmla="*/ 3110904 h 5393036"/>
              <a:gd name="connsiteX11" fmla="*/ 0 w 4441372"/>
              <a:gd name="connsiteY11" fmla="*/ 3110904 h 5393036"/>
              <a:gd name="connsiteX12" fmla="*/ 2267856 w 4441372"/>
              <a:gd name="connsiteY12" fmla="*/ 0 h 5393036"/>
              <a:gd name="connsiteX13" fmla="*/ 4441372 w 4441372"/>
              <a:gd name="connsiteY13" fmla="*/ 0 h 5393036"/>
              <a:gd name="connsiteX14" fmla="*/ 4441372 w 4441372"/>
              <a:gd name="connsiteY14" fmla="*/ 2204067 h 5393036"/>
              <a:gd name="connsiteX15" fmla="*/ 2267856 w 4441372"/>
              <a:gd name="connsiteY15" fmla="*/ 2204067 h 5393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41372" h="5393036">
                <a:moveTo>
                  <a:pt x="0" y="3188969"/>
                </a:moveTo>
                <a:lnTo>
                  <a:pt x="2173516" y="3188969"/>
                </a:lnTo>
                <a:lnTo>
                  <a:pt x="2173516" y="5393036"/>
                </a:lnTo>
                <a:lnTo>
                  <a:pt x="0" y="5393036"/>
                </a:lnTo>
                <a:close/>
                <a:moveTo>
                  <a:pt x="2267856" y="2293018"/>
                </a:moveTo>
                <a:lnTo>
                  <a:pt x="4441372" y="2293018"/>
                </a:lnTo>
                <a:lnTo>
                  <a:pt x="4441372" y="4497085"/>
                </a:lnTo>
                <a:lnTo>
                  <a:pt x="2267856" y="4497085"/>
                </a:lnTo>
                <a:close/>
                <a:moveTo>
                  <a:pt x="0" y="906837"/>
                </a:moveTo>
                <a:lnTo>
                  <a:pt x="2173516" y="906837"/>
                </a:lnTo>
                <a:lnTo>
                  <a:pt x="2173516" y="3110904"/>
                </a:lnTo>
                <a:lnTo>
                  <a:pt x="0" y="3110904"/>
                </a:lnTo>
                <a:close/>
                <a:moveTo>
                  <a:pt x="2267856" y="0"/>
                </a:moveTo>
                <a:lnTo>
                  <a:pt x="4441372" y="0"/>
                </a:lnTo>
                <a:lnTo>
                  <a:pt x="4441372" y="2204067"/>
                </a:lnTo>
                <a:lnTo>
                  <a:pt x="2267856" y="2204067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xmlns="" id="{459DADC7-BE21-4434-A6E4-BAF809005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591254852"/>
      </p:ext>
    </p:extLst>
  </p:cSld>
  <p:clrMapOvr>
    <a:masterClrMapping/>
  </p:clrMapOvr>
  <p:extLst>
    <p:ext uri="{DCECCB84-F9BA-43D5-87BE-67443E8EF086}">
      <p15:sldGuideLst xmlns:p15="http://schemas.microsoft.com/office/powerpoint/2012/main" xmlns="">
        <p15:guide id="1" orient="horz" pos="504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1416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xmlns="" id="{CF421413-161E-4B36-B693-FB38DF14EDA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53508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xmlns="" id="{B5D207AE-9C9C-410A-9F31-2402BAD6DDF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11592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xmlns="" id="{DE3344FC-C4DE-481F-9C31-667EDD563C4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02465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xmlns="" id="{59094D7D-3613-49C1-BB58-A65B41A9738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84005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xmlns="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rPr lang="en-US" sz="4800" b="1">
                <a:solidFill>
                  <a:schemeClr val="tx1"/>
                </a:solidFill>
              </a:rPr>
              <a:t>Click to edit Master title style</a:t>
            </a:r>
            <a:endParaRPr lang="en-US" sz="4800" b="1" dirty="0">
              <a:solidFill>
                <a:schemeClr val="tx1"/>
              </a:solidFill>
            </a:endParaRPr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xmlns="" id="{476CA45F-A66A-4AD8-A004-10DB55A5D7B2}"/>
              </a:ext>
            </a:extLst>
          </p:cNvPr>
          <p:cNvSpPr/>
          <p:nvPr userDrawn="1"/>
        </p:nvSpPr>
        <p:spPr>
          <a:xfrm>
            <a:off x="546669" y="3467555"/>
            <a:ext cx="458268" cy="395059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Hexagon 9">
            <a:extLst>
              <a:ext uri="{FF2B5EF4-FFF2-40B4-BE49-F238E27FC236}">
                <a16:creationId xmlns:a16="http://schemas.microsoft.com/office/drawing/2014/main" xmlns="" id="{27A66A3D-2437-4015-9F5F-380C4D23D83C}"/>
              </a:ext>
            </a:extLst>
          </p:cNvPr>
          <p:cNvSpPr/>
          <p:nvPr userDrawn="1"/>
        </p:nvSpPr>
        <p:spPr>
          <a:xfrm>
            <a:off x="11113337" y="2394722"/>
            <a:ext cx="358391" cy="308958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Hexagon 10">
            <a:extLst>
              <a:ext uri="{FF2B5EF4-FFF2-40B4-BE49-F238E27FC236}">
                <a16:creationId xmlns:a16="http://schemas.microsoft.com/office/drawing/2014/main" xmlns="" id="{FFB14F3B-E7EF-4546-8D74-71FFB45C77C0}"/>
              </a:ext>
            </a:extLst>
          </p:cNvPr>
          <p:cNvSpPr/>
          <p:nvPr userDrawn="1"/>
        </p:nvSpPr>
        <p:spPr>
          <a:xfrm>
            <a:off x="10882649" y="2202202"/>
            <a:ext cx="230688" cy="19886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xmlns="" id="{591F943B-ED0D-49A1-844A-E23BA9A487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6668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xmlns="" id="{9AC6B9A8-053C-4828-B705-901C6018F3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6692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xmlns="" id="{BBA6FD52-E179-41F8-AE78-9AF3D65F28B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89482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xmlns="" id="{C49A82AB-D328-4DB0-841B-186884119E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8948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xmlns="" id="{84E23D5D-9866-48F9-8E08-DD2DBE4C4E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32296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xmlns="" id="{E671C9E6-A1A5-4EE5-8642-94AA7635DB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2920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2">
            <a:extLst>
              <a:ext uri="{FF2B5EF4-FFF2-40B4-BE49-F238E27FC236}">
                <a16:creationId xmlns:a16="http://schemas.microsoft.com/office/drawing/2014/main" xmlns="" id="{DF6BB5C9-B678-435A-830F-4C10EB1A95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275110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xmlns="" id="{1861EC87-A9E2-4FC3-B8BC-06C520B8A17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7511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2">
            <a:extLst>
              <a:ext uri="{FF2B5EF4-FFF2-40B4-BE49-F238E27FC236}">
                <a16:creationId xmlns:a16="http://schemas.microsoft.com/office/drawing/2014/main" xmlns="" id="{FC3EDE91-631F-4947-94DC-557685FD23E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517923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2">
            <a:extLst>
              <a:ext uri="{FF2B5EF4-FFF2-40B4-BE49-F238E27FC236}">
                <a16:creationId xmlns:a16="http://schemas.microsoft.com/office/drawing/2014/main" xmlns="" id="{8FDDBEF4-1329-49DF-B043-D51B34F5EE3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1792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xmlns="" id="{FBDB3FD3-4F52-4E28-B639-5F73070E47D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78337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795884839"/>
      </p:ext>
    </p:extLst>
  </p:cSld>
  <p:clrMapOvr>
    <a:masterClrMapping/>
  </p:clrMapOvr>
  <p:extLst>
    <p:ext uri="{DCECCB84-F9BA-43D5-87BE-67443E8EF086}">
      <p15:sldGuideLst xmlns:p15="http://schemas.microsoft.com/office/powerpoint/2012/main" xmlns="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xmlns="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Rectangle 1" descr="Tall office building looking up">
            <a:extLst>
              <a:ext uri="{FF2B5EF4-FFF2-40B4-BE49-F238E27FC236}">
                <a16:creationId xmlns:a16="http://schemas.microsoft.com/office/drawing/2014/main" xmlns="" id="{AF7FA146-2A75-4EA7-A9AD-EBCE6F17FB42}"/>
              </a:ext>
            </a:extLst>
          </p:cNvPr>
          <p:cNvSpPr/>
          <p:nvPr userDrawn="1"/>
        </p:nvSpPr>
        <p:spPr>
          <a:xfrm>
            <a:off x="3718560" y="1181123"/>
            <a:ext cx="4754880" cy="4495754"/>
          </a:xfrm>
          <a:prstGeom prst="rect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xmlns="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49139" y="4859469"/>
            <a:ext cx="3924934" cy="490538"/>
          </a:xfrm>
          <a:prstGeom prst="rect">
            <a:avLst/>
          </a:prstGeom>
        </p:spPr>
        <p:txBody>
          <a:bodyPr/>
          <a:lstStyle>
            <a:lvl1pPr algn="r"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xmlns="" id="{162BE5D7-9E35-49F8-A8E4-2093183A6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139" y="1529685"/>
            <a:ext cx="3924934" cy="1695637"/>
          </a:xfrm>
          <a:prstGeom prst="rect">
            <a:avLst/>
          </a:prstGeom>
        </p:spPr>
        <p:txBody>
          <a:bodyPr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1439956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8/26/2026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8" name="Date Placeholder 3">
            <a:extLst>
              <a:ext uri="{FF2B5EF4-FFF2-40B4-BE49-F238E27FC236}">
                <a16:creationId xmlns:a16="http://schemas.microsoft.com/office/drawing/2014/main" xmlns="" id="{2CD6B789-4B66-4BD0-9623-80E9542A65FE}"/>
              </a:ext>
            </a:extLst>
          </p:cNvPr>
          <p:cNvSpPr txBox="1">
            <a:spLocks/>
          </p:cNvSpPr>
          <p:nvPr userDrawn="1"/>
        </p:nvSpPr>
        <p:spPr>
          <a:xfrm>
            <a:off x="660396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7BD5F78-1C10-49D6-8616-C9F20406C112}" type="datetime1">
              <a:rPr lang="en-US" sz="1100" smtClean="0">
                <a:solidFill>
                  <a:schemeClr val="accent2"/>
                </a:solidFill>
              </a:rPr>
              <a:pPr/>
              <a:t>8/26/2026</a:t>
            </a:fld>
            <a:endParaRPr lang="en-US" sz="1100" dirty="0">
              <a:solidFill>
                <a:schemeClr val="accent2"/>
              </a:solidFill>
            </a:endParaRPr>
          </a:p>
        </p:txBody>
      </p:sp>
      <p:sp>
        <p:nvSpPr>
          <p:cNvPr id="29" name="Footer Placeholder 4">
            <a:extLst>
              <a:ext uri="{FF2B5EF4-FFF2-40B4-BE49-F238E27FC236}">
                <a16:creationId xmlns:a16="http://schemas.microsoft.com/office/drawing/2014/main" xmlns="" id="{A3BB5234-44A4-4506-BD19-5808475EBB7F}"/>
              </a:ext>
            </a:extLst>
          </p:cNvPr>
          <p:cNvSpPr txBox="1">
            <a:spLocks/>
          </p:cNvSpPr>
          <p:nvPr userDrawn="1"/>
        </p:nvSpPr>
        <p:spPr>
          <a:xfrm>
            <a:off x="1445526" y="6378906"/>
            <a:ext cx="41148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100" b="1" dirty="0">
                <a:solidFill>
                  <a:schemeClr val="accent2"/>
                </a:solidFill>
              </a:rPr>
              <a:t>Annual Review</a:t>
            </a:r>
          </a:p>
        </p:txBody>
      </p: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xmlns="" id="{68D89618-7EE9-46BF-BEAC-45E6F98ACA1A}"/>
              </a:ext>
            </a:extLst>
          </p:cNvPr>
          <p:cNvSpPr txBox="1">
            <a:spLocks/>
          </p:cNvSpPr>
          <p:nvPr userDrawn="1"/>
        </p:nvSpPr>
        <p:spPr>
          <a:xfrm>
            <a:off x="8805338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18C1E5-FB55-42F5-BD6D-9CC153FCDBE6}" type="slidenum">
              <a:rPr lang="en-US" sz="1100" smtClean="0">
                <a:solidFill>
                  <a:schemeClr val="accent4"/>
                </a:solidFill>
              </a:rPr>
              <a:pPr algn="r"/>
              <a:t>‹#›</a:t>
            </a:fld>
            <a:endParaRPr lang="en-US" sz="11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3064259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  <p:sldLayoutId id="2147483756" r:id="rId9"/>
    <p:sldLayoutId id="2147483757" r:id="rId10"/>
    <p:sldLayoutId id="2147483758" r:id="rId11"/>
    <p:sldLayoutId id="2147483759" r:id="rId12"/>
    <p:sldLayoutId id="2147483760" r:id="rId13"/>
    <p:sldLayoutId id="2147483761" r:id="rId14"/>
    <p:sldLayoutId id="2147483762" r:id="rId15"/>
    <p:sldLayoutId id="2147483763" r:id="rId16"/>
    <p:sldLayoutId id="2147483764" r:id="rId17"/>
    <p:sldLayoutId id="2147483765" r:id="rId18"/>
    <p:sldLayoutId id="2147483766" r:id="rId19"/>
    <p:sldLayoutId id="2147483769" r:id="rId20"/>
    <p:sldLayoutId id="2147483690" r:id="rId2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 xmlns="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abc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0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0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xmlns="" id="{7201737A-B873-4D1D-8A41-5ABF5184BC8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12871" y="4141999"/>
            <a:ext cx="3400089" cy="861497"/>
          </a:xfrm>
        </p:spPr>
        <p:txBody>
          <a:bodyPr/>
          <a:lstStyle/>
          <a:p>
            <a:pPr algn="r"/>
            <a:r>
              <a:rPr lang="en-US" b="0" dirty="0" err="1" smtClean="0">
                <a:solidFill>
                  <a:schemeClr val="tx1"/>
                </a:solidFill>
              </a:rPr>
              <a:t>Dhruv</a:t>
            </a:r>
            <a:endParaRPr lang="en-IN" b="0" dirty="0">
              <a:solidFill>
                <a:schemeClr val="tx1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xmlns="" id="{92056599-CDAA-4367-BEF8-31D6E32518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24596" y="3441469"/>
            <a:ext cx="7786995" cy="781396"/>
          </a:xfrm>
        </p:spPr>
        <p:txBody>
          <a:bodyPr>
            <a:normAutofit/>
          </a:bodyPr>
          <a:lstStyle/>
          <a:p>
            <a:r>
              <a:rPr lang="en-GB" sz="3200" dirty="0" smtClean="0"/>
              <a:t>Project Title </a:t>
            </a:r>
            <a:r>
              <a:rPr lang="en-GB" sz="3200" dirty="0" smtClean="0"/>
              <a:t>– Car Market Trend Analysis</a:t>
            </a:r>
            <a:endParaRPr lang="en-IN" sz="3200" dirty="0"/>
          </a:p>
        </p:txBody>
      </p:sp>
      <p:sp>
        <p:nvSpPr>
          <p:cNvPr id="15" name="Text Placeholder 1">
            <a:extLst>
              <a:ext uri="{FF2B5EF4-FFF2-40B4-BE49-F238E27FC236}">
                <a16:creationId xmlns:a16="http://schemas.microsoft.com/office/drawing/2014/main" xmlns="" id="{824B8A32-9AB3-457E-82E1-C85D3203CE35}"/>
              </a:ext>
            </a:extLst>
          </p:cNvPr>
          <p:cNvSpPr txBox="1">
            <a:spLocks/>
          </p:cNvSpPr>
          <p:nvPr/>
        </p:nvSpPr>
        <p:spPr>
          <a:xfrm>
            <a:off x="6400800" y="2794001"/>
            <a:ext cx="3312160" cy="8614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1" kern="120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E30DEFF0-8DEE-4B0B-9B30-675FE9E288A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604013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16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  <p:bldP spid="1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xmlns="" id="{EBF2FBC7-3552-4F01-BB27-8BEEE74F7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805213"/>
            <a:ext cx="6276109" cy="830997"/>
          </a:xfrm>
        </p:spPr>
        <p:txBody>
          <a:bodyPr>
            <a:normAutofit/>
          </a:bodyPr>
          <a:lstStyle/>
          <a:p>
            <a:r>
              <a:rPr lang="en-GB" dirty="0" smtClean="0"/>
              <a:t>Work done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09D8A2BA-6C1D-4A33-85F2-E44A4FF54A1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6BED3D6A-DC10-4985-B01B-735F2CBA6E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31273" y="1895303"/>
            <a:ext cx="10906297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dirty="0" smtClean="0"/>
              <a:t>Reading &amp; cleaning of data and formatting it properly.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Finding the total count of brand which brand has more demand in resale market.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How many cars have been sold respected to their brand.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Which are the top five used car sold in the market and how many units are sold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How many car has been sold with respect to fuel type.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How many seller type are selling car in </a:t>
            </a:r>
            <a:r>
              <a:rPr lang="en-US" dirty="0" err="1" smtClean="0"/>
              <a:t>CarDekho</a:t>
            </a:r>
            <a:r>
              <a:rPr lang="en-US" dirty="0" smtClean="0"/>
              <a:t>.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Comparing the selling price of car with respect to its actual cost and vehicle age .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Which cars has maximum and minimum mileage.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Which car is best in seating range.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How many cars have been sold according to its age.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Plotting graph using </a:t>
            </a:r>
            <a:r>
              <a:rPr lang="en-US" dirty="0" err="1" smtClean="0"/>
              <a:t>Seaborn</a:t>
            </a:r>
            <a:r>
              <a:rPr lang="en-US" dirty="0" smtClean="0"/>
              <a:t>.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Finding top used cars which is 4 years old.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Searching cars, budget from 10 thousand to 9 </a:t>
            </a:r>
            <a:r>
              <a:rPr lang="en-US" dirty="0" err="1" smtClean="0"/>
              <a:t>lakhs</a:t>
            </a:r>
            <a:r>
              <a:rPr lang="en-US" dirty="0" smtClean="0"/>
              <a:t> .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Overall view of cars in </a:t>
            </a:r>
            <a:r>
              <a:rPr lang="en-US" dirty="0" err="1" smtClean="0"/>
              <a:t>CarDekho</a:t>
            </a:r>
            <a:r>
              <a:rPr lang="en-US" dirty="0" smtClean="0"/>
              <a:t> price range from 10K to 4Cr.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Finding the correlation.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/>
              <a:t>Using pair plot to show the relation between all variable.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696770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0B7C27C4-3E14-490A-B132-CBBEDA1E90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xmlns="" id="{F1FC3E39-8C60-4F64-9838-2A683F25B8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50800" y="3820160"/>
            <a:ext cx="1727200" cy="3010024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xmlns="" id="{B21C28F5-3CA3-4B78-B5C9-550C00BB317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90618" y="1432560"/>
            <a:ext cx="9027702" cy="5243448"/>
          </a:xfrm>
        </p:spPr>
        <p:txBody>
          <a:bodyPr/>
          <a:lstStyle/>
          <a:p>
            <a:pPr lvl="1">
              <a:lnSpc>
                <a:spcPct val="150000"/>
              </a:lnSpc>
            </a:pPr>
            <a:r>
              <a:rPr lang="en-IN" dirty="0" smtClean="0"/>
              <a:t>Python , </a:t>
            </a:r>
            <a:r>
              <a:rPr lang="en-IN" dirty="0" err="1" smtClean="0"/>
              <a:t>matplotlib</a:t>
            </a:r>
            <a:r>
              <a:rPr lang="en-IN" dirty="0" smtClean="0"/>
              <a:t> , pandas , </a:t>
            </a:r>
            <a:r>
              <a:rPr lang="en-IN" dirty="0" err="1" smtClean="0"/>
              <a:t>numpy</a:t>
            </a:r>
            <a:r>
              <a:rPr lang="en-IN" dirty="0" smtClean="0"/>
              <a:t> , </a:t>
            </a:r>
            <a:r>
              <a:rPr lang="en-IN" dirty="0" err="1" smtClean="0"/>
              <a:t>jyupyter</a:t>
            </a:r>
            <a:r>
              <a:rPr lang="en-IN" dirty="0" smtClean="0"/>
              <a:t> notebook</a:t>
            </a:r>
            <a:endParaRPr lang="en-IN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xmlns="" id="{FEF304F5-32C5-4869-B185-859B56785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430567"/>
            <a:ext cx="5306291" cy="847817"/>
          </a:xfrm>
        </p:spPr>
        <p:txBody>
          <a:bodyPr>
            <a:normAutofit/>
          </a:bodyPr>
          <a:lstStyle/>
          <a:p>
            <a:r>
              <a:rPr lang="en-US" dirty="0" smtClean="0"/>
              <a:t>Technology Used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341901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xmlns="" id="{664E3B60-2780-459A-8583-F095D5E7463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21359" y="1991360"/>
            <a:ext cx="7904481" cy="3990023"/>
          </a:xfrm>
        </p:spPr>
        <p:txBody>
          <a:bodyPr>
            <a:normAutofit fontScale="47500" lnSpcReduction="20000"/>
          </a:bodyPr>
          <a:lstStyle/>
          <a:p>
            <a:r>
              <a:rPr lang="en-US" sz="3600" dirty="0" smtClean="0"/>
              <a:t>Brand having more demand in resale market are: </a:t>
            </a:r>
            <a:r>
              <a:rPr lang="en-US" sz="3600" dirty="0" err="1" smtClean="0"/>
              <a:t>Maruti,Hyundai,Honda,Mahindra,Toyota</a:t>
            </a:r>
            <a:endParaRPr lang="en-US" sz="3600" dirty="0" smtClean="0"/>
          </a:p>
          <a:p>
            <a:r>
              <a:rPr lang="en-US" sz="3600" dirty="0" smtClean="0"/>
              <a:t>Car with highest count in market are: Hyundai i20</a:t>
            </a:r>
          </a:p>
          <a:p>
            <a:r>
              <a:rPr lang="en-US" sz="3600" dirty="0" smtClean="0"/>
              <a:t>Seller Type in market: Dealer(61.9%),Individual(37.0%),Trustmark dealer(11%)</a:t>
            </a:r>
          </a:p>
          <a:p>
            <a:r>
              <a:rPr lang="en-US" sz="3600" dirty="0" smtClean="0"/>
              <a:t>Car power to price relation as power </a:t>
            </a:r>
            <a:r>
              <a:rPr lang="en-US" sz="3600" dirty="0" err="1" smtClean="0"/>
              <a:t>increace</a:t>
            </a:r>
            <a:r>
              <a:rPr lang="en-US" sz="3600" dirty="0" smtClean="0"/>
              <a:t> the price increase</a:t>
            </a:r>
          </a:p>
          <a:p>
            <a:r>
              <a:rPr lang="en-US" sz="3600" dirty="0" err="1" smtClean="0"/>
              <a:t>Maruti</a:t>
            </a:r>
            <a:r>
              <a:rPr lang="en-US" sz="3600" dirty="0" smtClean="0"/>
              <a:t> Cars has best mileage and </a:t>
            </a:r>
            <a:r>
              <a:rPr lang="en-US" sz="3600" dirty="0" err="1" smtClean="0"/>
              <a:t>maintainance</a:t>
            </a:r>
            <a:r>
              <a:rPr lang="en-US" sz="3600" dirty="0" smtClean="0"/>
              <a:t> is low</a:t>
            </a:r>
          </a:p>
          <a:p>
            <a:r>
              <a:rPr lang="en-US" sz="3600" dirty="0" smtClean="0"/>
              <a:t>5 </a:t>
            </a:r>
            <a:r>
              <a:rPr lang="en-US" sz="3600" dirty="0" err="1" smtClean="0"/>
              <a:t>seater</a:t>
            </a:r>
            <a:r>
              <a:rPr lang="en-US" sz="3600" dirty="0" smtClean="0"/>
              <a:t> cars are in more demand than that of 7 </a:t>
            </a:r>
            <a:r>
              <a:rPr lang="en-US" sz="3600" dirty="0" err="1" smtClean="0"/>
              <a:t>seaters</a:t>
            </a:r>
            <a:endParaRPr lang="en-US" sz="3600" dirty="0" smtClean="0"/>
          </a:p>
          <a:p>
            <a:r>
              <a:rPr lang="en-US" sz="3600" dirty="0" smtClean="0"/>
              <a:t>Top three best car to buy with respect to each and every variable: a) </a:t>
            </a:r>
            <a:r>
              <a:rPr lang="en-US" sz="3600" dirty="0" err="1" smtClean="0"/>
              <a:t>Maruti</a:t>
            </a:r>
            <a:r>
              <a:rPr lang="en-US" sz="3600" dirty="0" smtClean="0"/>
              <a:t> Wagon R : Fuel type = CNG, Market price = 691769.09 Rs, Selling Price = 450000 Rs, Mileage = 33.54,Age = 4 b) </a:t>
            </a:r>
            <a:r>
              <a:rPr lang="en-US" sz="3600" dirty="0" err="1" smtClean="0"/>
              <a:t>Maruti</a:t>
            </a:r>
            <a:r>
              <a:rPr lang="en-US" sz="3600" dirty="0" smtClean="0"/>
              <a:t> Swift </a:t>
            </a:r>
            <a:r>
              <a:rPr lang="en-US" sz="3600" dirty="0" err="1" smtClean="0"/>
              <a:t>Dzire</a:t>
            </a:r>
            <a:r>
              <a:rPr lang="en-US" sz="3600" dirty="0" smtClean="0"/>
              <a:t> or </a:t>
            </a:r>
            <a:r>
              <a:rPr lang="en-US" sz="3600" dirty="0" err="1" smtClean="0"/>
              <a:t>Maruti</a:t>
            </a:r>
            <a:r>
              <a:rPr lang="en-US" sz="3600" dirty="0" smtClean="0"/>
              <a:t> Swift: Fuel type = Petrol ,Market Price = 900000 ,Selling Price = 750000 Rs ,Mileage = 28.40 ,Age = 4 c) Hyundai i20 : Fuel type = Petrol ,Market Price = 800000 ,Selling Price = 215000 , Mileage = 17 ,Age = 4</a:t>
            </a:r>
          </a:p>
          <a:p>
            <a:pPr algn="just">
              <a:lnSpc>
                <a:spcPct val="150000"/>
              </a:lnSpc>
            </a:pPr>
            <a:endParaRPr lang="en-IN" sz="360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xmlns="" id="{1A4A072B-83C6-4607-AE6A-5AD61CC72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008" y="876617"/>
            <a:ext cx="10046070" cy="802641"/>
          </a:xfrm>
        </p:spPr>
        <p:txBody>
          <a:bodyPr>
            <a:normAutofit/>
          </a:bodyPr>
          <a:lstStyle/>
          <a:p>
            <a:r>
              <a:rPr lang="en-US" sz="3200" dirty="0" smtClean="0"/>
              <a:t>Conclusion</a:t>
            </a:r>
            <a:endParaRPr lang="en-IN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E8B153BB-61B9-403F-8AE5-F75400450A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359" y="6176804"/>
            <a:ext cx="2181225" cy="485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48075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BBB0C869-7C5C-4070-BD4D-F3FC2DA8F3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xmlns="" id="{AFE3A2AF-177E-45E6-A191-0F8523DB7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xmlns="" id="{372426BE-BEE7-4A6D-BCD2-059615BBCE25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xmlns="" id="{E61E227A-5883-4C77-B25A-46A22FFDF41F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xmlns="" id="{E25373E9-1A26-4A40-9897-E42DE485D8E3}"/>
              </a:ext>
            </a:extLst>
          </p:cNvPr>
          <p:cNvSpPr txBox="1">
            <a:spLocks/>
          </p:cNvSpPr>
          <p:nvPr/>
        </p:nvSpPr>
        <p:spPr>
          <a:xfrm>
            <a:off x="422959" y="5737443"/>
            <a:ext cx="2981643" cy="830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GB" dirty="0"/>
              <a:t> </a:t>
            </a:r>
            <a:r>
              <a:rPr lang="en-GB" sz="2000" b="0" u="sng" dirty="0">
                <a:solidFill>
                  <a:srgbClr val="0070C0"/>
                </a:solidFill>
                <a:hlinkClick r:id="rId3" action="ppaction://hlinkfile">
                  <a:extLst>
                    <a:ext uri="{A12FA001-AC4F-418D-AE19-62706E023703}">
                      <ahyp:hlinkClr xmlns="" xmlns:ahyp="http://schemas.microsoft.com/office/drawing/2018/hyperlinkcolor" val="tx"/>
                    </a:ext>
                  </a:extLst>
                </a:hlinkClick>
              </a:rPr>
              <a:t>Demo Link</a:t>
            </a:r>
            <a:endParaRPr lang="en-IN" b="0" u="sng" dirty="0">
              <a:solidFill>
                <a:srgbClr val="0070C0"/>
              </a:solidFill>
            </a:endParaRPr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xmlns="" id="{B19D8AC7-3787-4ADB-9212-0808F015C2D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7164" y="1431693"/>
            <a:ext cx="4275138" cy="477520"/>
          </a:xfrm>
        </p:spPr>
        <p:txBody>
          <a:bodyPr>
            <a:noAutofit/>
          </a:bodyPr>
          <a:lstStyle/>
          <a:p>
            <a:r>
              <a:rPr lang="en-US" sz="1600" dirty="0" smtClean="0"/>
              <a:t>As per my analysis cars of </a:t>
            </a:r>
            <a:r>
              <a:rPr lang="en-US" sz="1600" dirty="0" err="1" smtClean="0"/>
              <a:t>Maruti</a:t>
            </a:r>
            <a:r>
              <a:rPr lang="en-US" sz="1600" dirty="0" smtClean="0"/>
              <a:t> and Hyundai are most trusted and has better mileage along with low </a:t>
            </a:r>
            <a:r>
              <a:rPr lang="en-US" sz="1600" dirty="0" err="1" smtClean="0"/>
              <a:t>maintainance</a:t>
            </a:r>
            <a:r>
              <a:rPr lang="en-US" sz="1600" dirty="0" smtClean="0"/>
              <a:t> compared to the other brands.</a:t>
            </a:r>
          </a:p>
          <a:p>
            <a:r>
              <a:rPr lang="en-US" sz="1600" dirty="0" smtClean="0"/>
              <a:t>Also as per the data analysis we have gone through the resale value of </a:t>
            </a:r>
            <a:r>
              <a:rPr lang="en-US" sz="1600" dirty="0" err="1" smtClean="0"/>
              <a:t>Maruti,Hyundai</a:t>
            </a:r>
            <a:r>
              <a:rPr lang="en-US" sz="1600" dirty="0" smtClean="0"/>
              <a:t> and Toyota are best but according to the budget and mileage point of view </a:t>
            </a:r>
            <a:r>
              <a:rPr lang="en-US" sz="1600" dirty="0" err="1" smtClean="0"/>
              <a:t>Maruti</a:t>
            </a:r>
            <a:r>
              <a:rPr lang="en-US" sz="1600" dirty="0" smtClean="0"/>
              <a:t> and Hyundai cars are leading ahead.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xmlns="" val="1086225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xmlns="" id="{D88C20CF-C1EE-4092-B52D-FD4AB2AB25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99068" y="647700"/>
            <a:ext cx="4672931" cy="700114"/>
          </a:xfrm>
          <a:prstGeom prst="rect">
            <a:avLst/>
          </a:prstGeom>
        </p:spPr>
        <p:txBody>
          <a:bodyPr anchor="ctr">
            <a:normAutofit fontScale="90000"/>
          </a:bodyPr>
          <a:lstStyle/>
          <a:p>
            <a:pPr algn="ctr"/>
            <a:r>
              <a:rPr lang="en-US" sz="4800" b="1" dirty="0" smtClean="0">
                <a:solidFill>
                  <a:schemeClr val="tx1"/>
                </a:solidFill>
              </a:rPr>
              <a:t>Highest selling by brand</a:t>
            </a:r>
            <a:endParaRPr lang="en-US" sz="4800" b="1" dirty="0">
              <a:solidFill>
                <a:schemeClr val="tx1"/>
              </a:solidFill>
            </a:endParaRP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xmlns="" id="{97AB1F14-3A1E-4057-A473-9975BA59F01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27865" y="4641925"/>
            <a:ext cx="2139695" cy="1108635"/>
          </a:xfrm>
        </p:spPr>
        <p:txBody>
          <a:bodyPr>
            <a:normAutofit/>
          </a:bodyPr>
          <a:lstStyle/>
          <a:p>
            <a:r>
              <a:rPr lang="en-US" dirty="0"/>
              <a:t>.</a:t>
            </a:r>
          </a:p>
        </p:txBody>
      </p:sp>
      <p:sp>
        <p:nvSpPr>
          <p:cNvPr id="17" name="Text Placeholder 28">
            <a:extLst>
              <a:ext uri="{FF2B5EF4-FFF2-40B4-BE49-F238E27FC236}">
                <a16:creationId xmlns:a16="http://schemas.microsoft.com/office/drawing/2014/main" xmlns="" id="{E212CE24-374D-44D0-8F39-0F5A36E42ED7}"/>
              </a:ext>
            </a:extLst>
          </p:cNvPr>
          <p:cNvSpPr txBox="1">
            <a:spLocks/>
          </p:cNvSpPr>
          <p:nvPr/>
        </p:nvSpPr>
        <p:spPr>
          <a:xfrm>
            <a:off x="878337" y="4134780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400" dirty="0"/>
          </a:p>
        </p:txBody>
      </p:sp>
      <p:sp>
        <p:nvSpPr>
          <p:cNvPr id="20" name="Text Placeholder 28">
            <a:extLst>
              <a:ext uri="{FF2B5EF4-FFF2-40B4-BE49-F238E27FC236}">
                <a16:creationId xmlns:a16="http://schemas.microsoft.com/office/drawing/2014/main" xmlns="" id="{A09A5BC1-0E62-4E6B-A590-951A87D4B4FE}"/>
              </a:ext>
            </a:extLst>
          </p:cNvPr>
          <p:cNvSpPr txBox="1">
            <a:spLocks/>
          </p:cNvSpPr>
          <p:nvPr/>
        </p:nvSpPr>
        <p:spPr>
          <a:xfrm>
            <a:off x="5353508" y="3962573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23" name="Text Placeholder 28">
            <a:extLst>
              <a:ext uri="{FF2B5EF4-FFF2-40B4-BE49-F238E27FC236}">
                <a16:creationId xmlns:a16="http://schemas.microsoft.com/office/drawing/2014/main" xmlns="" id="{9E6B148F-F3B6-4E6B-9B85-645C039858E8}"/>
              </a:ext>
            </a:extLst>
          </p:cNvPr>
          <p:cNvSpPr txBox="1">
            <a:spLocks/>
          </p:cNvSpPr>
          <p:nvPr/>
        </p:nvSpPr>
        <p:spPr>
          <a:xfrm>
            <a:off x="7789163" y="3962572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30" name="Text Placeholder 30">
            <a:extLst>
              <a:ext uri="{FF2B5EF4-FFF2-40B4-BE49-F238E27FC236}">
                <a16:creationId xmlns:a16="http://schemas.microsoft.com/office/drawing/2014/main" xmlns="" id="{D3BF02F6-2753-476A-8046-A85AE3A49748}"/>
              </a:ext>
            </a:extLst>
          </p:cNvPr>
          <p:cNvSpPr txBox="1">
            <a:spLocks/>
          </p:cNvSpPr>
          <p:nvPr/>
        </p:nvSpPr>
        <p:spPr>
          <a:xfrm>
            <a:off x="6096000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/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xmlns="" id="{B993AB29-3A3A-4473-8AC8-86E859C97321}"/>
              </a:ext>
            </a:extLst>
          </p:cNvPr>
          <p:cNvSpPr txBox="1">
            <a:spLocks/>
          </p:cNvSpPr>
          <p:nvPr/>
        </p:nvSpPr>
        <p:spPr>
          <a:xfrm>
            <a:off x="8591363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xmlns="" id="{BD3F9E86-2FB3-4DB3-9343-59D594F350A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xmlns="" id="{BC277FD7-925B-4C3D-A364-11840320150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975013" y="3962573"/>
            <a:ext cx="2139696" cy="344312"/>
          </a:xfrm>
        </p:spPr>
        <p:txBody>
          <a:bodyPr>
            <a:normAutofit fontScale="92500" lnSpcReduction="20000"/>
          </a:bodyPr>
          <a:lstStyle/>
          <a:p>
            <a:endParaRPr lang="en-IN" dirty="0"/>
          </a:p>
        </p:txBody>
      </p:sp>
      <p:pic>
        <p:nvPicPr>
          <p:cNvPr id="1026" name="Picture 2" descr="C:\Users\Pushpendra\Documents\DHRUV\Data Analytics\Car Market Trend Analysis\Highest Selling Car by Brand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6563822" cy="656382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xmlns="" val="3401748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1" grpId="0" build="p"/>
      <p:bldP spid="17" grpId="0"/>
      <p:bldP spid="20" grpId="0"/>
      <p:bldP spid="23" grpId="0"/>
      <p:bldP spid="30" grpId="0"/>
      <p:bldP spid="3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xmlns="" id="{D88C20CF-C1EE-4092-B52D-FD4AB2AB25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3926" y="647700"/>
            <a:ext cx="5288073" cy="700114"/>
          </a:xfrm>
          <a:prstGeom prst="rect">
            <a:avLst/>
          </a:prstGeom>
        </p:spPr>
        <p:txBody>
          <a:bodyPr anchor="ctr">
            <a:normAutofit fontScale="90000"/>
          </a:bodyPr>
          <a:lstStyle/>
          <a:p>
            <a:pPr algn="ctr"/>
            <a:r>
              <a:rPr lang="en-US" sz="4800" b="1" dirty="0" smtClean="0">
                <a:solidFill>
                  <a:schemeClr val="tx1"/>
                </a:solidFill>
              </a:rPr>
              <a:t>Highest selling by </a:t>
            </a:r>
            <a:r>
              <a:rPr lang="en-US" sz="4800" b="1" dirty="0" smtClean="0">
                <a:solidFill>
                  <a:schemeClr val="tx1"/>
                </a:solidFill>
              </a:rPr>
              <a:t>Model</a:t>
            </a:r>
            <a:endParaRPr lang="en-US" sz="4800" b="1" dirty="0">
              <a:solidFill>
                <a:schemeClr val="tx1"/>
              </a:solidFill>
            </a:endParaRP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xmlns="" id="{97AB1F14-3A1E-4057-A473-9975BA59F01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27865" y="4641925"/>
            <a:ext cx="2139695" cy="1108635"/>
          </a:xfrm>
        </p:spPr>
        <p:txBody>
          <a:bodyPr>
            <a:normAutofit/>
          </a:bodyPr>
          <a:lstStyle/>
          <a:p>
            <a:r>
              <a:rPr lang="en-US" dirty="0"/>
              <a:t>.</a:t>
            </a:r>
          </a:p>
        </p:txBody>
      </p:sp>
      <p:sp>
        <p:nvSpPr>
          <p:cNvPr id="17" name="Text Placeholder 28">
            <a:extLst>
              <a:ext uri="{FF2B5EF4-FFF2-40B4-BE49-F238E27FC236}">
                <a16:creationId xmlns:a16="http://schemas.microsoft.com/office/drawing/2014/main" xmlns="" id="{E212CE24-374D-44D0-8F39-0F5A36E42ED7}"/>
              </a:ext>
            </a:extLst>
          </p:cNvPr>
          <p:cNvSpPr txBox="1">
            <a:spLocks/>
          </p:cNvSpPr>
          <p:nvPr/>
        </p:nvSpPr>
        <p:spPr>
          <a:xfrm>
            <a:off x="878337" y="4134780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400" dirty="0"/>
          </a:p>
        </p:txBody>
      </p:sp>
      <p:sp>
        <p:nvSpPr>
          <p:cNvPr id="20" name="Text Placeholder 28">
            <a:extLst>
              <a:ext uri="{FF2B5EF4-FFF2-40B4-BE49-F238E27FC236}">
                <a16:creationId xmlns:a16="http://schemas.microsoft.com/office/drawing/2014/main" xmlns="" id="{A09A5BC1-0E62-4E6B-A590-951A87D4B4FE}"/>
              </a:ext>
            </a:extLst>
          </p:cNvPr>
          <p:cNvSpPr txBox="1">
            <a:spLocks/>
          </p:cNvSpPr>
          <p:nvPr/>
        </p:nvSpPr>
        <p:spPr>
          <a:xfrm>
            <a:off x="5353508" y="3962573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23" name="Text Placeholder 28">
            <a:extLst>
              <a:ext uri="{FF2B5EF4-FFF2-40B4-BE49-F238E27FC236}">
                <a16:creationId xmlns:a16="http://schemas.microsoft.com/office/drawing/2014/main" xmlns="" id="{9E6B148F-F3B6-4E6B-9B85-645C039858E8}"/>
              </a:ext>
            </a:extLst>
          </p:cNvPr>
          <p:cNvSpPr txBox="1">
            <a:spLocks/>
          </p:cNvSpPr>
          <p:nvPr/>
        </p:nvSpPr>
        <p:spPr>
          <a:xfrm>
            <a:off x="7789163" y="3962572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30" name="Text Placeholder 30">
            <a:extLst>
              <a:ext uri="{FF2B5EF4-FFF2-40B4-BE49-F238E27FC236}">
                <a16:creationId xmlns:a16="http://schemas.microsoft.com/office/drawing/2014/main" xmlns="" id="{D3BF02F6-2753-476A-8046-A85AE3A49748}"/>
              </a:ext>
            </a:extLst>
          </p:cNvPr>
          <p:cNvSpPr txBox="1">
            <a:spLocks/>
          </p:cNvSpPr>
          <p:nvPr/>
        </p:nvSpPr>
        <p:spPr>
          <a:xfrm>
            <a:off x="6096000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/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xmlns="" id="{B993AB29-3A3A-4473-8AC8-86E859C97321}"/>
              </a:ext>
            </a:extLst>
          </p:cNvPr>
          <p:cNvSpPr txBox="1">
            <a:spLocks/>
          </p:cNvSpPr>
          <p:nvPr/>
        </p:nvSpPr>
        <p:spPr>
          <a:xfrm>
            <a:off x="8591363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xmlns="" id="{BD3F9E86-2FB3-4DB3-9343-59D594F350A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xmlns="" id="{BC277FD7-925B-4C3D-A364-11840320150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975013" y="3962573"/>
            <a:ext cx="2139696" cy="344312"/>
          </a:xfrm>
        </p:spPr>
        <p:txBody>
          <a:bodyPr>
            <a:normAutofit fontScale="92500" lnSpcReduction="20000"/>
          </a:bodyPr>
          <a:lstStyle/>
          <a:p>
            <a:endParaRPr lang="en-IN" dirty="0"/>
          </a:p>
        </p:txBody>
      </p:sp>
      <p:pic>
        <p:nvPicPr>
          <p:cNvPr id="2050" name="Picture 2" descr="C:\Users\Pushpendra\Documents\DHRUV\Data Analytics\Car Market Trend Analysis\Highest Selling Cars by Model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117600" y="0"/>
            <a:ext cx="3454400" cy="735425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xmlns="" val="3401748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1" grpId="0" build="p"/>
      <p:bldP spid="17" grpId="0"/>
      <p:bldP spid="20" grpId="0"/>
      <p:bldP spid="23" grpId="0"/>
      <p:bldP spid="30" grpId="0"/>
      <p:bldP spid="3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xmlns="" id="{D88C20CF-C1EE-4092-B52D-FD4AB2AB2508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anchor="ctr">
            <a:normAutofit fontScale="90000"/>
          </a:bodyPr>
          <a:lstStyle/>
          <a:p>
            <a:pPr algn="ctr"/>
            <a:r>
              <a:rPr lang="en-US" sz="4800" b="1" dirty="0" smtClean="0">
                <a:solidFill>
                  <a:schemeClr val="tx1"/>
                </a:solidFill>
              </a:rPr>
              <a:t>Thank you</a:t>
            </a:r>
            <a:endParaRPr lang="en-US" sz="4800" b="1" dirty="0">
              <a:solidFill>
                <a:schemeClr val="tx1"/>
              </a:solidFill>
            </a:endParaRP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xmlns="" id="{97AB1F14-3A1E-4057-A473-9975BA59F01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27865" y="4641925"/>
            <a:ext cx="2139695" cy="1108635"/>
          </a:xfrm>
        </p:spPr>
        <p:txBody>
          <a:bodyPr>
            <a:normAutofit/>
          </a:bodyPr>
          <a:lstStyle/>
          <a:p>
            <a:r>
              <a:rPr lang="en-US" dirty="0"/>
              <a:t>.</a:t>
            </a:r>
          </a:p>
        </p:txBody>
      </p:sp>
      <p:sp>
        <p:nvSpPr>
          <p:cNvPr id="17" name="Text Placeholder 28">
            <a:extLst>
              <a:ext uri="{FF2B5EF4-FFF2-40B4-BE49-F238E27FC236}">
                <a16:creationId xmlns:a16="http://schemas.microsoft.com/office/drawing/2014/main" xmlns="" id="{E212CE24-374D-44D0-8F39-0F5A36E42ED7}"/>
              </a:ext>
            </a:extLst>
          </p:cNvPr>
          <p:cNvSpPr txBox="1">
            <a:spLocks/>
          </p:cNvSpPr>
          <p:nvPr/>
        </p:nvSpPr>
        <p:spPr>
          <a:xfrm>
            <a:off x="878337" y="4134780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400" dirty="0"/>
          </a:p>
        </p:txBody>
      </p:sp>
      <p:sp>
        <p:nvSpPr>
          <p:cNvPr id="20" name="Text Placeholder 28">
            <a:extLst>
              <a:ext uri="{FF2B5EF4-FFF2-40B4-BE49-F238E27FC236}">
                <a16:creationId xmlns:a16="http://schemas.microsoft.com/office/drawing/2014/main" xmlns="" id="{A09A5BC1-0E62-4E6B-A590-951A87D4B4FE}"/>
              </a:ext>
            </a:extLst>
          </p:cNvPr>
          <p:cNvSpPr txBox="1">
            <a:spLocks/>
          </p:cNvSpPr>
          <p:nvPr/>
        </p:nvSpPr>
        <p:spPr>
          <a:xfrm>
            <a:off x="5353508" y="3962573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23" name="Text Placeholder 28">
            <a:extLst>
              <a:ext uri="{FF2B5EF4-FFF2-40B4-BE49-F238E27FC236}">
                <a16:creationId xmlns:a16="http://schemas.microsoft.com/office/drawing/2014/main" xmlns="" id="{9E6B148F-F3B6-4E6B-9B85-645C039858E8}"/>
              </a:ext>
            </a:extLst>
          </p:cNvPr>
          <p:cNvSpPr txBox="1">
            <a:spLocks/>
          </p:cNvSpPr>
          <p:nvPr/>
        </p:nvSpPr>
        <p:spPr>
          <a:xfrm>
            <a:off x="7789163" y="3962572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30" name="Text Placeholder 30">
            <a:extLst>
              <a:ext uri="{FF2B5EF4-FFF2-40B4-BE49-F238E27FC236}">
                <a16:creationId xmlns:a16="http://schemas.microsoft.com/office/drawing/2014/main" xmlns="" id="{D3BF02F6-2753-476A-8046-A85AE3A49748}"/>
              </a:ext>
            </a:extLst>
          </p:cNvPr>
          <p:cNvSpPr txBox="1">
            <a:spLocks/>
          </p:cNvSpPr>
          <p:nvPr/>
        </p:nvSpPr>
        <p:spPr>
          <a:xfrm>
            <a:off x="6096000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/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xmlns="" id="{B993AB29-3A3A-4473-8AC8-86E859C97321}"/>
              </a:ext>
            </a:extLst>
          </p:cNvPr>
          <p:cNvSpPr txBox="1">
            <a:spLocks/>
          </p:cNvSpPr>
          <p:nvPr/>
        </p:nvSpPr>
        <p:spPr>
          <a:xfrm>
            <a:off x="8591363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xmlns="" id="{BD3F9E86-2FB3-4DB3-9343-59D594F350A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xmlns="" id="{BC277FD7-925B-4C3D-A364-11840320150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975013" y="3962573"/>
            <a:ext cx="2139696" cy="344312"/>
          </a:xfrm>
        </p:spPr>
        <p:txBody>
          <a:bodyPr>
            <a:normAutofit fontScale="92500" lnSpcReduction="20000"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3401748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1" grpId="0" build="p"/>
      <p:bldP spid="17" grpId="0"/>
      <p:bldP spid="20" grpId="0"/>
      <p:bldP spid="23" grpId="0"/>
      <p:bldP spid="30" grpId="0"/>
      <p:bldP spid="32" grpId="0"/>
    </p:bld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DEA9014-ED64-4558-B1E1-D03F0EE32BEB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05D99ABA-76CE-4A8E-B5F0-C051B96628D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19EB750-A6DA-4BE8-B87B-FC499FE733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556</TotalTime>
  <Words>444</Words>
  <Application>Microsoft Office PowerPoint</Application>
  <PresentationFormat>Custom</PresentationFormat>
  <Paragraphs>43</Paragraphs>
  <Slides>8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Facet</vt:lpstr>
      <vt:lpstr>Project Title – Car Market Trend Analysis</vt:lpstr>
      <vt:lpstr>Work done</vt:lpstr>
      <vt:lpstr>Technology Used</vt:lpstr>
      <vt:lpstr>Conclusion</vt:lpstr>
      <vt:lpstr>RESULTS </vt:lpstr>
      <vt:lpstr>Highest selling by brand</vt:lpstr>
      <vt:lpstr>Highest selling by Model</vt:lpstr>
      <vt:lpstr>Thank you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MASKED HUNTERS</dc:title>
  <dc:creator>Venkataswamy</dc:creator>
  <cp:lastModifiedBy>Pushpendra</cp:lastModifiedBy>
  <cp:revision>74</cp:revision>
  <dcterms:created xsi:type="dcterms:W3CDTF">2021-07-11T13:13:15Z</dcterms:created>
  <dcterms:modified xsi:type="dcterms:W3CDTF">2026-08-25T19:02:02Z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